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21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43E"/>
              </a:solidFill>
              <a:effectLst/>
            </c:spPr>
          </c:dPt>
          <c:dPt>
            <c:idx val="1"/>
            <c:bubble3D val="0"/>
            <c:spPr>
              <a:solidFill>
                <a:srgbClr val="6E8B6E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Pt>
            <c:idx val="3"/>
            <c:bubble3D val="0"/>
            <c:spPr>
              <a:solidFill>
                <a:srgbClr val="7A6F63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Direct programs</c:v>
                </c:pt>
                <c:pt idx="1">
                  <c:v>Monitoring &amp; evaluation</c:v>
                </c:pt>
                <c:pt idx="2">
                  <c:v>Community mobilization</c:v>
                </c:pt>
                <c:pt idx="3">
                  <c:v>Administration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72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11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B8543E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D9A441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JOPETNAH FOUNDATION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whole communities, one life at a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&amp; Partner Briefing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doesn't come in one piece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communities Jopetnah serves, a child out of school, a family without healthcare, and a household without income are rarely separate problems — they are the same problem, seen from different angles.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charities specialize in one slice of that problem. Jopetnah is built to address the whole picture — for the whole family.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5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89520" y="14630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052560" y="14630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program pillars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329184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5C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89520" y="3383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052560" y="3383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family-centered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mission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1E9D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05840" y="1188720"/>
            <a:ext cx="10149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advance education, health, economic opportunity, and environmental resilience in underserved communities through integrated, locally-led programs.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02920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337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generation of communities that are educated, healthy, economically self-reliant, and environmentally sustainable.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3200400"/>
            <a:ext cx="502920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43400" y="3337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43400" y="37947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Integrity, community ownership, transparency, sustainability, and inclusion guide every program decision.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3200400"/>
            <a:ext cx="502920" cy="5486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46720" y="3337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0" y="37947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Locally-led delivery, cross-pillar bundling, and rigorous impact reporting — built for both grassroots trust and institutional rigor.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pillars, one family-centered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317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755648"/>
            <a:ext cx="914400" cy="914400"/>
          </a:xfrm>
          <a:prstGeom prst="ellipse">
            <a:avLst/>
          </a:prstGeom>
          <a:solidFill>
            <a:srgbClr val="B8543E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9339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Youth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011680" y="2148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Scholarships, mentorship, digital-skills labs, community libraries.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137160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317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629400" y="1755648"/>
            <a:ext cx="914400" cy="914400"/>
          </a:xfrm>
          <a:prstGeom prst="ellipse">
            <a:avLst/>
          </a:prstGeom>
          <a:solidFill>
            <a:srgbClr val="A8453A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99339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668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Wellbeing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26680" y="2148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champions, mobile clinics, mental-health &amp; nutrition education.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317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14400" y="4178808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416552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1168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Livelihoods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011680" y="4572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Micro-grants, vocational-to-job pipelines, savings &amp; lending circles.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55080" y="379476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317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629400" y="4178808"/>
            <a:ext cx="914400" cy="914400"/>
          </a:xfrm>
          <a:prstGeom prst="ellipse">
            <a:avLst/>
          </a:prstGeom>
          <a:solidFill>
            <a:srgbClr val="6E8B6E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4416552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2668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726680" y="4572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planting, water &amp; sanitation access, climate-smart agribusiness.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B8543E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Youth Development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5029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education programs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6400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11430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Jopetnah invests in the full learning journey — from early literacy through job-ready skills — so a child's education is never cut short by a family's financial shock.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440" y="2788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program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329184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F1E9DD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0" y="352044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Jopetnah Scholars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Need-based scholarships paired with ongoing mentorship for secondary and tertiary students, prioritizing girls, refugees, and students with disabilities.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Labs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Digital-literacy and vocational-skills hubs placed inside partner schools.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 Lead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libraries and literacy campaigns for early learners.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A8453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Wellbeing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5029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health programs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6400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11430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 the hinge that keeps every other pillar working — a family that stays healthy stays in school, stays employed, and stays engaged in its community.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440" y="2788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program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329184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F1E9DD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0" y="352044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Champions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local volunteers as first-line health educators for their own neighborhoods.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Wellness Clinics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outreach delivering maternal health services, screenings, and vaccinations to remote areas.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&amp; Body Program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 awareness, nutrition, and adolescent health education.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D9A441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Poverty Alleviation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Livelihoods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5029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livelihood programs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6400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11430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change means income that outlasts the grant. Jopetnah pairs capital with training so families build lasting, self-directed livelihoods.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440" y="2788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program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329184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F1E9DD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0" y="352044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Jopetnah Micro-Grants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 and business training for small entrepreneurs, with priority for women and youth.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Skills-to-Income Pipeline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training tied directly to job placement or self-employment.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Savings Circles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groups paired with financial-literacy training.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6E8B6E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1887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51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Development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5029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environment programs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6400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63440" y="11430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families need a resilient environment. Jopetnah links conservation directly back to household income and public health.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440" y="2788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program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329184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F1E9DD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0" y="352044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Neighborhoods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planting, community clean-ups, and shared community gardens.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&amp; Sanitation Access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Boreholes, filtration units, and hygiene education for underserved households.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Climate-Smart Livelihoods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agribusiness training that connects the environment pillar directly back to family income.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2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gift. Whole-family impact.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8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our four pillars work together, a single Jopetnah gift can reach every part of one family's life — not just one slice of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881360" cy="3566160"/>
          </a:xfrm>
          <a:prstGeom prst="roundRect">
            <a:avLst>
              <a:gd name="adj" fmla="val 3846"/>
            </a:avLst>
          </a:prstGeom>
          <a:solidFill>
            <a:srgbClr val="4A2E1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606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$500 gift, illustrated"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3246120"/>
            <a:ext cx="1005840" cy="1005840"/>
          </a:xfrm>
          <a:prstGeom prst="ellipse">
            <a:avLst/>
          </a:prstGeom>
          <a:solidFill>
            <a:srgbClr val="B8543E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798" y="350763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fees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child, one term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1005840" cy="1005840"/>
          </a:xfrm>
          <a:prstGeom prst="ellipse">
            <a:avLst/>
          </a:prstGeom>
          <a:solidFill>
            <a:srgbClr val="A8453A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958" y="350763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check-up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14800" y="4800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whole household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3246120"/>
            <a:ext cx="1005840" cy="10058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118" y="350763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09560" y="4389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Livelihood grant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680960" y="4800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 for one parent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Year 1 Pilot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E8D9CC"/>
                </a:solidFill>
                <a:latin typeface="Calibri"/>
              </a:rPr>
              <a:t>Concrete, fundable targets for our first year of operation — not projections, commitments.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31280"/>
            <a:ext cx="10881360" cy="4100000"/>
          </a:xfrm>
          <a:prstGeom prst="roundRect">
            <a:avLst>
              <a:gd name="adj" fmla="val 3000"/>
            </a:avLst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0080" y="2550000"/>
            <a:ext cx="760000" cy="760000"/>
          </a:xfrm>
          <a:prstGeom prst="ellipse">
            <a:avLst/>
          </a:prstGeom>
          <a:solidFill>
            <a:srgbClr val="C46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0080" y="2570000"/>
            <a:ext cx="39956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mbria"/>
              </a:rPr>
              <a:t>Students Sponsored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0080" y="2930000"/>
            <a:ext cx="399568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8D9CC"/>
                </a:solidFill>
                <a:latin typeface="Calibri"/>
              </a:rPr>
              <a:t>Jopetnah Scholars + 1 Future-Ready digital-literacy hub (200 students trained in basic ICT)</a:t>
            </a:r>
          </a:p>
        </p:txBody>
      </p:sp>
      <p:sp>
        <p:nvSpPr>
          <p:cNvPr id="8" name="Oval 7"/>
          <p:cNvSpPr/>
          <p:nvPr/>
        </p:nvSpPr>
        <p:spPr>
          <a:xfrm>
            <a:off x="6255760" y="2550000"/>
            <a:ext cx="760000" cy="760000"/>
          </a:xfrm>
          <a:prstGeom prst="ellipse">
            <a:avLst/>
          </a:prstGeom>
          <a:solidFill>
            <a:srgbClr val="8F4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5760" y="2570000"/>
            <a:ext cx="39956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mbria"/>
              </a:rPr>
              <a:t>Bed Nets Distributed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5760" y="2930000"/>
            <a:ext cx="399568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8D9CC"/>
                </a:solidFill>
                <a:latin typeface="Calibri"/>
              </a:rPr>
              <a:t>To pregnant women &amp; children under 5, alongside training 20 Community Health Champions</a:t>
            </a:r>
          </a:p>
        </p:txBody>
      </p:sp>
      <p:sp>
        <p:nvSpPr>
          <p:cNvPr id="11" name="Oval 10"/>
          <p:cNvSpPr/>
          <p:nvPr/>
        </p:nvSpPr>
        <p:spPr>
          <a:xfrm>
            <a:off x="990080" y="4550000"/>
            <a:ext cx="760000" cy="760000"/>
          </a:xfrm>
          <a:prstGeom prst="ellipse">
            <a:avLst/>
          </a:prstGeom>
          <a:solidFill>
            <a:srgbClr val="D8A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0080" y="4570000"/>
            <a:ext cx="39956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mbria"/>
              </a:rPr>
              <a:t>VSLA Groups (125 members)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0080" y="4930000"/>
            <a:ext cx="399568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8D9CC"/>
                </a:solidFill>
                <a:latin typeface="Calibri"/>
              </a:rPr>
              <a:t>Village Savings &amp; Loan Associations, plus 25 micro-grants ($50–100 each) disbursed</a:t>
            </a:r>
          </a:p>
        </p:txBody>
      </p:sp>
      <p:sp>
        <p:nvSpPr>
          <p:cNvPr id="14" name="Oval 13"/>
          <p:cNvSpPr/>
          <p:nvPr/>
        </p:nvSpPr>
        <p:spPr>
          <a:xfrm>
            <a:off x="6255760" y="4550000"/>
            <a:ext cx="760000" cy="760000"/>
          </a:xfrm>
          <a:prstGeom prst="ellipse">
            <a:avLst/>
          </a:prstGeom>
          <a:solidFill>
            <a:srgbClr val="7C9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5760" y="4570000"/>
            <a:ext cx="399568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mbria"/>
              </a:rPr>
              <a:t>Trees Planted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5760" y="4930000"/>
            <a:ext cx="399568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E8D9CC"/>
                </a:solidFill>
                <a:latin typeface="Calibri"/>
              </a:rPr>
              <a:t>In partnership with 2 local schools, plus 1 community borehole rehabilitated (~500 households)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C9B8A8"/>
                </a:solidFill>
                <a:latin typeface="Calibri"/>
              </a:rPr>
              <a:t>THE JOPETNAH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C9B8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support goes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allocation for a mature program year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600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55280" y="1600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directly into the four program pillars — scholarships, clinics, grants, and environmental works.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858000" y="2697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55280" y="2697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the monitoring &amp; evaluation systems that keep every grant reportable and every donor informed.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0" y="3794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55280" y="37947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community mobilization that makes programs locally owned, not externally imposed.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0" y="4892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955280" y="4892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lean administration — kept low by design, and disclosed in full in our annual report.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partner with Jopetnah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31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97380" y="1691640"/>
            <a:ext cx="914400" cy="914400"/>
          </a:xfrm>
          <a:prstGeom prst="ellipse">
            <a:avLst/>
          </a:prstGeom>
          <a:solidFill>
            <a:srgbClr val="B8543E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19293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Individuals &amp; Diaspora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3429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Sponsor-a-Student / Sponsor-a-Family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Circle recurring giving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4709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Jopetnah Day peer-to-peer campaigns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371600"/>
            <a:ext cx="34290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31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600700" y="169164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19293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743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Sponsors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429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partnership program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916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Adopt-a-Program sponsorship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09160" y="4709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giving &amp; matching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4290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317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304020" y="1691640"/>
            <a:ext cx="914400" cy="914400"/>
          </a:xfrm>
          <a:prstGeom prst="ellipse">
            <a:avLst/>
          </a:prstGeom>
          <a:solidFill>
            <a:srgbClr val="6E8B6E"/>
          </a:solidFill>
          <a:ln/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64" y="192938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2743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Grants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3429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concept notes per pillar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412480" y="4069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grants calendar &amp; tracking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412480" y="4709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partnerships for scale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&amp; Founder's Circle giving tiers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14600" cy="4297680"/>
          </a:xfrm>
          <a:prstGeom prst="roundRect">
            <a:avLst>
              <a:gd name="adj" fmla="val 4364"/>
            </a:avLst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691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$25/mo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one month of a Read to Lead community library slot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514600" cy="4297680"/>
          </a:xfrm>
          <a:prstGeom prst="roundRect">
            <a:avLst>
              <a:gd name="adj" fmla="val 4364"/>
            </a:avLst>
          </a:prstGeom>
          <a:solidFill>
            <a:srgbClr val="B8543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691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2286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$100/mo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11880" y="306324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one Community Health Champion's monthly outreach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2514600" cy="4297680"/>
          </a:xfrm>
          <a:prstGeom prst="roundRect">
            <a:avLst>
              <a:gd name="adj" fmla="val 4364"/>
            </a:avLst>
          </a:prstGeom>
          <a:solidFill>
            <a:srgbClr val="6E8B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1691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 (or /mo)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306324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"whole-family" bundled gift — education, health, livelihood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9680" y="1463040"/>
            <a:ext cx="2514600" cy="4297680"/>
          </a:xfrm>
          <a:prstGeom prst="roundRect">
            <a:avLst>
              <a:gd name="adj" fmla="val 4364"/>
            </a:avLst>
          </a:prstGeom>
          <a:solidFill>
            <a:srgbClr val="3A231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52560" y="1691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Founder's Circle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52560" y="22860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$5,000+/yr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98280" y="3063240"/>
            <a:ext cx="2057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recognition, gala invitation, quarterly impact briefings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trust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868680" cy="868680"/>
          </a:xfrm>
          <a:prstGeom prst="ellipse">
            <a:avLst/>
          </a:prstGeom>
          <a:solidFill>
            <a:srgbClr val="B8543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7" y="1780337"/>
            <a:ext cx="416966" cy="4169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572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board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12080" y="15544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trustees provide fiduciary oversight and governance separate from program staff.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724912"/>
            <a:ext cx="868680" cy="868680"/>
          </a:xfrm>
          <a:prstGeom prst="ellipse">
            <a:avLst/>
          </a:prstGeom>
          <a:solidFill>
            <a:srgbClr val="B8543E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7" y="2950769"/>
            <a:ext cx="416966" cy="416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impact data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212080" y="2724912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public report with cost-per-beneficiary and outcome metrics by pillar.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895344"/>
            <a:ext cx="868680" cy="868680"/>
          </a:xfrm>
          <a:prstGeom prst="ellipse">
            <a:avLst/>
          </a:prstGeom>
          <a:solidFill>
            <a:srgbClr val="B8543E"/>
          </a:solidFill>
          <a:ln/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7" y="4121201"/>
            <a:ext cx="416966" cy="4169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39136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Audited financials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212080" y="3895344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transparency, including administrative-cost disclosure, published annually.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1520" y="5065776"/>
            <a:ext cx="868680" cy="868680"/>
          </a:xfrm>
          <a:prstGeom prst="ellipse">
            <a:avLst/>
          </a:prstGeom>
          <a:solidFill>
            <a:srgbClr val="B8543E"/>
          </a:solidFill>
          <a:ln/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7" y="5291633"/>
            <a:ext cx="416966" cy="4169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28800" y="50840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Locally-led delivery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212080" y="5065776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leadership and decision-making rooted in the communities we serve.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JOPETNAH FOUNDATION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2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B8543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us at the ground level.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8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as an individual, a diaspora partner, a corporate sponsor, or an institutional funder — there is a place for you in building whole communities with Jopetnah.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www.jopetnahfoundation.org   •   partnerships@jopetnahfoundation.org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2026-07-13T23:11:43Z</dcterms:created>
  <dcterms:modified xsi:type="dcterms:W3CDTF">2026-07-13T23:11:43Z</dcterms:modified>
</cp:coreProperties>
</file>